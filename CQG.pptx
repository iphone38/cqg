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91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5494A-14BD-B45B-1AFC-82D80DCE4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FD7BF14-FD11-F504-BD50-627F75F3D8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931C8FA-E37D-9A0B-F33F-D8D920951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09B17F-89BD-5AEC-9B00-5919E2E77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D29871-5A31-3A9B-CD16-1C54ECADA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25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BE3A9-1BFF-DFC2-F710-A05AB796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46278F-E765-074A-DA17-EE6E62281E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D527E19-4610-A7BA-8261-B8BCEDDE2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7F47C6-9D0E-681A-C094-D1A7D861A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D9A502-06C7-F187-8510-A5E31083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984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52F0A4-624B-418C-BE7D-5D78C985F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DD2051-8777-4C03-3FD5-9A3024B6A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04AB1D-67F9-07BB-8C9E-5D8E74384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7E4A9-5F09-64A5-02BB-0EF7C2DC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030369-0AD2-597A-B28D-B84A09546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96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EBBAD9-CE89-A82F-F07F-B6F0343D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A7F5C3A-EB3F-A2F8-A98C-2302DAECCD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C8EB08E-4E11-50BA-D026-2FEFCDEEAA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278C6C6-8053-DE0D-E60F-9E30F393D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D2AE6C8-621B-1C0A-0757-68DDB6734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AA6CEB-B0D0-A652-7321-52BE82AA8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96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C82D25-FE5B-4DE0-EFC5-E689A3F40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8792752-8F28-E224-5BEF-69D501E4A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5E3A445-830D-6565-933E-1820224EA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559DC3-CA56-EDAB-E2DB-F6696A1A98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6A4D094-03BB-BA88-96D2-3347B5BEF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5B0D4A-0F41-8C59-48E0-827398E2AF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AE70C0C-149B-8CCB-3359-5BA2954E7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79E771-E99D-3F63-F6E3-565BC91F9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638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331797-F24A-DEDD-A7DD-C91B734AF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C5EB010-EB8A-AC8D-7311-4C9E2CB28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3AAF734-D6C4-8723-5515-39A79C56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FA82096-4389-A0F3-4860-752A98483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255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80FE24D-A628-2DB0-AD9E-ADE77D52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50EEE68-78B2-4B64-3A08-5E3F84FB2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74D20C-5EDB-7A17-E6AF-B450ACE3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2015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F55DC7-FB72-BEE6-9F26-92AC1CA0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E9676E-DCEF-7AAC-C110-3B78F0F31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253B27-0B6C-308E-FA8C-24C8C9B48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1F9EBD-2A96-806F-561F-C9EA4E712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01025F-B19F-BE3B-9017-5E9674FF5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FE1945-A52C-844C-3E53-53178C86A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2317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789003-7B3F-A74C-011E-47BB73766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3295385-FA38-77F8-BD23-3E4C02D97E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E7156D6-3004-048A-54C7-C0B3EE026F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8B9576-E611-AA00-EC36-3BE187757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2474E1-D9AC-F06C-5724-5AD2D80E6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08A961-AF7F-F30B-D3EE-81CFCB53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1217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C4C503-E8F9-54CA-EA29-5422439E6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FA409A1-440A-98DE-13B1-6628A61C3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CC6F8D7-628C-D1F8-0A96-DC386129F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9D61D-029E-868B-6877-A3011DC68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4B1ABC-5EB6-345D-A0B4-6D492FE40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0314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C0C53A7-2E96-7ED2-DC78-46F1DF3F8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CC9595-24D9-E15F-A4DB-CAF2C85723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A906559-6FFC-CD0D-3D2D-3AE6467B7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83C537-0191-D53F-E294-EAE98C3B4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1E8DDE1-E1F3-5A32-CDE4-FC0A10238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0513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9411835-F731-0DDD-40EE-5F9A5B1C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265500-FC63-8304-9FEA-6E53BC649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10981-A1CF-5B91-43BE-5F480DDF48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19C9B2-2A5A-437B-AFE4-D76718AE0744}" type="datetimeFigureOut">
              <a:rPr lang="zh-CN" altLang="en-US" smtClean="0"/>
              <a:t>2025/8/23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49D12D-28E3-1117-2D3F-977329D58D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1FB117-D6C0-33EE-E136-C0726F9E6C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78B51-7D1A-478E-8E31-3576DACFB2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085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951F1C3-2C37-60DB-E71B-AF53D7D49111}"/>
              </a:ext>
            </a:extLst>
          </p:cNvPr>
          <p:cNvSpPr txBox="1"/>
          <p:nvPr/>
        </p:nvSpPr>
        <p:spPr>
          <a:xfrm>
            <a:off x="782618" y="2292896"/>
            <a:ext cx="988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 err="1"/>
              <a:t>CQG</a:t>
            </a:r>
            <a:r>
              <a:rPr lang="zh-CN" altLang="en-US" sz="3200" dirty="0"/>
              <a:t>：</a:t>
            </a:r>
            <a:r>
              <a:rPr lang="en-US" altLang="zh-CN" sz="3200" dirty="0"/>
              <a:t>Confused Question Generation</a:t>
            </a:r>
            <a:endParaRPr lang="zh-CN" altLang="en-US" sz="3200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CFEE69A-14AD-50B3-FFCB-23A834596BA1}"/>
              </a:ext>
            </a:extLst>
          </p:cNvPr>
          <p:cNvSpPr txBox="1"/>
          <p:nvPr/>
        </p:nvSpPr>
        <p:spPr>
          <a:xfrm>
            <a:off x="2678654" y="4801525"/>
            <a:ext cx="8412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定义：易错题指难度不大，但是正确率低的题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题目的难度可以由模型来判断，但是学生的犯错特性需要后训练的学习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25624A8-61ED-3236-B9CE-097C358A652F}"/>
              </a:ext>
            </a:extLst>
          </p:cNvPr>
          <p:cNvSpPr txBox="1"/>
          <p:nvPr/>
        </p:nvSpPr>
        <p:spPr>
          <a:xfrm>
            <a:off x="2678654" y="3698846"/>
            <a:ext cx="60942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我的开源仓库：https://github.com/iPhone38/CQG.git</a:t>
            </a:r>
          </a:p>
        </p:txBody>
      </p:sp>
    </p:spTree>
    <p:extLst>
      <p:ext uri="{BB962C8B-B14F-4D97-AF65-F5344CB8AC3E}">
        <p14:creationId xmlns:p14="http://schemas.microsoft.com/office/powerpoint/2010/main" val="109446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76054-95EC-408D-0535-60CF05C7B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63A5B99B-BC95-C5ED-9DF7-928520422829}"/>
              </a:ext>
            </a:extLst>
          </p:cNvPr>
          <p:cNvSpPr txBox="1"/>
          <p:nvPr/>
        </p:nvSpPr>
        <p:spPr>
          <a:xfrm>
            <a:off x="0" y="0"/>
            <a:ext cx="988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Data Preparation</a:t>
            </a:r>
            <a:r>
              <a:rPr lang="zh-CN" altLang="en-US" sz="3200" dirty="0"/>
              <a:t> </a:t>
            </a:r>
            <a:r>
              <a:rPr lang="en-US" altLang="zh-CN" sz="3200" dirty="0"/>
              <a:t>And</a:t>
            </a:r>
            <a:r>
              <a:rPr lang="zh-CN" altLang="en-US" sz="3200" dirty="0"/>
              <a:t> </a:t>
            </a:r>
            <a:r>
              <a:rPr lang="en-US" altLang="zh-CN" sz="3200" dirty="0"/>
              <a:t>Training</a:t>
            </a:r>
            <a:endParaRPr lang="zh-CN" altLang="en-US" sz="3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3510258-E290-973F-FEBC-57E4EC8C59D6}"/>
              </a:ext>
            </a:extLst>
          </p:cNvPr>
          <p:cNvSpPr txBox="1"/>
          <p:nvPr/>
        </p:nvSpPr>
        <p:spPr>
          <a:xfrm>
            <a:off x="3270322" y="2315172"/>
            <a:ext cx="67127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(Question</a:t>
            </a:r>
            <a:r>
              <a:rPr lang="zh-CN" altLang="en-US" sz="2000" dirty="0"/>
              <a:t>，</a:t>
            </a:r>
            <a:r>
              <a:rPr lang="en-US" altLang="zh-CN" sz="2000" dirty="0"/>
              <a:t>Answer</a:t>
            </a:r>
            <a:r>
              <a:rPr lang="zh-CN" altLang="en-US" sz="2000" dirty="0"/>
              <a:t>，</a:t>
            </a:r>
            <a:r>
              <a:rPr lang="en-US" altLang="zh-CN" sz="2000" dirty="0"/>
              <a:t>Response</a:t>
            </a:r>
            <a:r>
              <a:rPr lang="zh-CN" altLang="en-US" sz="2000" dirty="0"/>
              <a:t>，</a:t>
            </a:r>
            <a:r>
              <a:rPr lang="en-US" altLang="zh-CN" sz="2000" dirty="0"/>
              <a:t>Grade</a:t>
            </a:r>
            <a:r>
              <a:rPr lang="zh-CN" altLang="en-US" sz="2000" dirty="0"/>
              <a:t>）学生的错题记录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F966FA7-9C47-836B-34C3-B3FDE7546578}"/>
              </a:ext>
            </a:extLst>
          </p:cNvPr>
          <p:cNvSpPr/>
          <p:nvPr/>
        </p:nvSpPr>
        <p:spPr>
          <a:xfrm>
            <a:off x="1371599" y="932465"/>
            <a:ext cx="357153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Foundation LLM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7A8F5480-99D9-E4D2-033F-2021F6F650F3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3157368" y="1846865"/>
            <a:ext cx="1" cy="14001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F83ED0E6-9544-4E4A-653A-1AA12DE99F09}"/>
              </a:ext>
            </a:extLst>
          </p:cNvPr>
          <p:cNvSpPr/>
          <p:nvPr/>
        </p:nvSpPr>
        <p:spPr>
          <a:xfrm>
            <a:off x="1371598" y="3247057"/>
            <a:ext cx="357153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Pretrained LLM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AA2F98F-82AC-99FB-D3CC-F3ADEE313C1E}"/>
              </a:ext>
            </a:extLst>
          </p:cNvPr>
          <p:cNvSpPr txBox="1"/>
          <p:nvPr/>
        </p:nvSpPr>
        <p:spPr>
          <a:xfrm>
            <a:off x="5298140" y="1204999"/>
            <a:ext cx="28507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基座模型：精通教育知识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6AD1661-7127-29E9-7C0F-5C73310A5F0A}"/>
              </a:ext>
            </a:extLst>
          </p:cNvPr>
          <p:cNvSpPr txBox="1"/>
          <p:nvPr/>
        </p:nvSpPr>
        <p:spPr>
          <a:xfrm>
            <a:off x="5203114" y="3523099"/>
            <a:ext cx="4591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预训练模型：学习了大量学生易错题的特征</a:t>
            </a:r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DFD5902-F99F-2A05-99C7-9D10FA384181}"/>
              </a:ext>
            </a:extLst>
          </p:cNvPr>
          <p:cNvCxnSpPr>
            <a:cxnSpLocks/>
            <a:stCxn id="12" idx="2"/>
            <a:endCxn id="25" idx="0"/>
          </p:cNvCxnSpPr>
          <p:nvPr/>
        </p:nvCxnSpPr>
        <p:spPr>
          <a:xfrm flipH="1">
            <a:off x="3157367" y="4161457"/>
            <a:ext cx="1" cy="1215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DDF146FC-8F74-0C83-BB2E-272CCEB7D4BA}"/>
              </a:ext>
            </a:extLst>
          </p:cNvPr>
          <p:cNvSpPr/>
          <p:nvPr/>
        </p:nvSpPr>
        <p:spPr>
          <a:xfrm>
            <a:off x="1371597" y="5376982"/>
            <a:ext cx="3571539" cy="9144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SFT</a:t>
            </a:r>
            <a:r>
              <a:rPr lang="en-US" altLang="zh-CN" dirty="0"/>
              <a:t> LLM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A0847E3-E3AE-45E5-9448-A98FBA78EF4B}"/>
              </a:ext>
            </a:extLst>
          </p:cNvPr>
          <p:cNvSpPr txBox="1"/>
          <p:nvPr/>
        </p:nvSpPr>
        <p:spPr>
          <a:xfrm>
            <a:off x="5077608" y="5699117"/>
            <a:ext cx="6549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微调练模型：能够准确预测不同年级学生回答该问题的准确率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3432CA5C-0508-E33B-4332-F6A4B778CE0F}"/>
              </a:ext>
            </a:extLst>
          </p:cNvPr>
          <p:cNvSpPr txBox="1"/>
          <p:nvPr/>
        </p:nvSpPr>
        <p:spPr>
          <a:xfrm>
            <a:off x="2899183" y="4595719"/>
            <a:ext cx="74550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/>
              <a:t>(Question</a:t>
            </a:r>
            <a:r>
              <a:rPr lang="zh-CN" altLang="en-US" sz="2000" dirty="0"/>
              <a:t>，</a:t>
            </a:r>
            <a:r>
              <a:rPr lang="en-US" altLang="zh-CN" sz="2000" dirty="0"/>
              <a:t>Answer</a:t>
            </a:r>
            <a:r>
              <a:rPr lang="zh-CN" altLang="en-US" sz="2000" dirty="0"/>
              <a:t>，</a:t>
            </a:r>
            <a:r>
              <a:rPr lang="en-US" altLang="zh-CN" sz="2000" dirty="0"/>
              <a:t>Response</a:t>
            </a:r>
            <a:r>
              <a:rPr lang="zh-CN" altLang="en-US" sz="2000" dirty="0"/>
              <a:t>，</a:t>
            </a:r>
            <a:r>
              <a:rPr lang="en-US" altLang="zh-CN" sz="2000" dirty="0"/>
              <a:t>Grade</a:t>
            </a:r>
            <a:r>
              <a:rPr lang="zh-CN" altLang="en-US" sz="2000" dirty="0"/>
              <a:t>）学生的做题记录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8B699536-B154-5C6A-9719-86BA803B8755}"/>
              </a:ext>
            </a:extLst>
          </p:cNvPr>
          <p:cNvSpPr txBox="1"/>
          <p:nvPr/>
        </p:nvSpPr>
        <p:spPr>
          <a:xfrm>
            <a:off x="1917550" y="2351860"/>
            <a:ext cx="16378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Pretrained</a:t>
            </a:r>
            <a:endParaRPr lang="zh-CN" altLang="en-US" dirty="0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58C72830-7885-1B0E-E414-2A4286957D7A}"/>
              </a:ext>
            </a:extLst>
          </p:cNvPr>
          <p:cNvSpPr txBox="1"/>
          <p:nvPr/>
        </p:nvSpPr>
        <p:spPr>
          <a:xfrm>
            <a:off x="2272554" y="4611108"/>
            <a:ext cx="7557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SFT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8110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2F3A1-2F50-B6F3-75E6-A9CFB6741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0D449DF1-3B35-CB26-428C-CBE28B605793}"/>
              </a:ext>
            </a:extLst>
          </p:cNvPr>
          <p:cNvSpPr txBox="1"/>
          <p:nvPr/>
        </p:nvSpPr>
        <p:spPr>
          <a:xfrm>
            <a:off x="0" y="0"/>
            <a:ext cx="98862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Wolk Flow</a:t>
            </a:r>
            <a:r>
              <a:rPr lang="zh-CN" altLang="en-US" sz="3200" dirty="0"/>
              <a:t>：问题生成 </a:t>
            </a:r>
            <a:r>
              <a:rPr lang="en-US" altLang="zh-CN" sz="3200" dirty="0"/>
              <a:t>+ </a:t>
            </a:r>
            <a:r>
              <a:rPr lang="zh-CN" altLang="en-US" sz="3200" dirty="0"/>
              <a:t>易错问题过滤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2DEB2E-F2F4-2A94-1934-8259DF763DAC}"/>
              </a:ext>
            </a:extLst>
          </p:cNvPr>
          <p:cNvSpPr/>
          <p:nvPr/>
        </p:nvSpPr>
        <p:spPr>
          <a:xfrm>
            <a:off x="168530" y="1968352"/>
            <a:ext cx="2485019" cy="5847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Pretrained LLM</a:t>
            </a:r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B8D2A5-F684-CF20-E7E9-734C002E777E}"/>
              </a:ext>
            </a:extLst>
          </p:cNvPr>
          <p:cNvSpPr/>
          <p:nvPr/>
        </p:nvSpPr>
        <p:spPr>
          <a:xfrm>
            <a:off x="9532470" y="2621280"/>
            <a:ext cx="2291380" cy="5847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SFT</a:t>
            </a:r>
            <a:r>
              <a:rPr lang="en-US" altLang="zh-CN" dirty="0"/>
              <a:t> LLM</a:t>
            </a:r>
            <a:endParaRPr lang="zh-CN" altLang="en-US" dirty="0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18C2DFC7-01CF-5799-9BDA-EBFB07CB2C09}"/>
              </a:ext>
            </a:extLst>
          </p:cNvPr>
          <p:cNvCxnSpPr>
            <a:cxnSpLocks/>
            <a:stCxn id="12" idx="3"/>
            <a:endCxn id="26" idx="1"/>
          </p:cNvCxnSpPr>
          <p:nvPr/>
        </p:nvCxnSpPr>
        <p:spPr>
          <a:xfrm flipV="1">
            <a:off x="2653549" y="2247779"/>
            <a:ext cx="1687735" cy="129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BC29D395-D421-05B8-8802-B26F8D6E5D35}"/>
              </a:ext>
            </a:extLst>
          </p:cNvPr>
          <p:cNvSpPr txBox="1"/>
          <p:nvPr/>
        </p:nvSpPr>
        <p:spPr>
          <a:xfrm>
            <a:off x="2804156" y="1891407"/>
            <a:ext cx="1258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generate prompt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777E79C-5030-A6FA-67AA-B7AECF5408F4}"/>
              </a:ext>
            </a:extLst>
          </p:cNvPr>
          <p:cNvSpPr txBox="1"/>
          <p:nvPr/>
        </p:nvSpPr>
        <p:spPr>
          <a:xfrm>
            <a:off x="2190968" y="834928"/>
            <a:ext cx="2485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生成</a:t>
            </a:r>
            <a:r>
              <a:rPr lang="en-US" altLang="zh-CN" dirty="0"/>
              <a:t>xxx</a:t>
            </a:r>
            <a:r>
              <a:rPr lang="zh-CN" altLang="en-US" dirty="0"/>
              <a:t>领域的易错题</a:t>
            </a:r>
            <a:endParaRPr lang="en-US" altLang="zh-CN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A828666-FB7B-F63E-5FBF-C531EF7391A5}"/>
              </a:ext>
            </a:extLst>
          </p:cNvPr>
          <p:cNvCxnSpPr>
            <a:stCxn id="19" idx="2"/>
            <a:endCxn id="15" idx="0"/>
          </p:cNvCxnSpPr>
          <p:nvPr/>
        </p:nvCxnSpPr>
        <p:spPr>
          <a:xfrm>
            <a:off x="3433478" y="1204260"/>
            <a:ext cx="1" cy="687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E96E0F0D-36C2-60FE-D276-3FEB33A5585F}"/>
              </a:ext>
            </a:extLst>
          </p:cNvPr>
          <p:cNvSpPr/>
          <p:nvPr/>
        </p:nvSpPr>
        <p:spPr>
          <a:xfrm>
            <a:off x="4341284" y="1118226"/>
            <a:ext cx="4782396" cy="2259106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sz="1200" dirty="0">
              <a:solidFill>
                <a:schemeClr val="tx1"/>
              </a:solidFill>
              <a:effectLst/>
            </a:endParaRPr>
          </a:p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题目</a:t>
            </a:r>
            <a:r>
              <a:rPr lang="en-US" altLang="zh-CN" sz="1200" dirty="0">
                <a:solidFill>
                  <a:schemeClr val="tx1"/>
                </a:solidFill>
                <a:effectLst/>
              </a:rPr>
              <a:t>1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：静止的物体一定不受摩擦力作用。</a:t>
            </a:r>
          </a:p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答案：错误</a:t>
            </a:r>
          </a:p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解析：容易错误认为静止物体没有相对运动趋势就不受摩擦力，实际上静摩擦力可以存在于相对静止但有运动趋势的物体间。</a:t>
            </a:r>
          </a:p>
          <a:p>
            <a:br>
              <a:rPr lang="zh-CN" altLang="en-US" sz="1200" dirty="0">
                <a:solidFill>
                  <a:schemeClr val="tx1"/>
                </a:solidFill>
                <a:effectLst/>
              </a:rPr>
            </a:br>
            <a:r>
              <a:rPr lang="en-US" altLang="zh-CN" sz="1200" dirty="0">
                <a:solidFill>
                  <a:schemeClr val="tx1"/>
                </a:solidFill>
                <a:effectLst/>
              </a:rPr>
              <a:t>…</a:t>
            </a:r>
            <a:endParaRPr lang="zh-CN" altLang="en-US" sz="1200" dirty="0">
              <a:solidFill>
                <a:schemeClr val="tx1"/>
              </a:solidFill>
              <a:effectLst/>
            </a:endParaRPr>
          </a:p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题目</a:t>
            </a:r>
            <a:r>
              <a:rPr lang="en-US" altLang="zh-CN" sz="1200" dirty="0">
                <a:solidFill>
                  <a:schemeClr val="tx1"/>
                </a:solidFill>
              </a:rPr>
              <a:t>n</a:t>
            </a:r>
            <a:r>
              <a:rPr lang="zh-CN" altLang="en-US" sz="1200" dirty="0">
                <a:solidFill>
                  <a:schemeClr val="tx1"/>
                </a:solidFill>
                <a:effectLst/>
              </a:rPr>
              <a:t>：摩擦力总是阻碍物体的运动。</a:t>
            </a:r>
          </a:p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答案：错误</a:t>
            </a:r>
          </a:p>
          <a:p>
            <a:r>
              <a:rPr lang="zh-CN" altLang="en-US" sz="1200" dirty="0">
                <a:solidFill>
                  <a:schemeClr val="tx1"/>
                </a:solidFill>
                <a:effectLst/>
              </a:rPr>
              <a:t>解析：容易忽略摩擦力也可以是动力（如人走路时地面提供的静摩擦力），并非总是阻碍运动。</a:t>
            </a:r>
          </a:p>
          <a:p>
            <a:br>
              <a:rPr lang="zh-CN" altLang="en-US" sz="1200" dirty="0">
                <a:solidFill>
                  <a:schemeClr val="tx1"/>
                </a:solidFill>
                <a:effectLst/>
              </a:rPr>
            </a:br>
            <a:r>
              <a:rPr lang="en-US" altLang="zh-CN" sz="1200" dirty="0">
                <a:solidFill>
                  <a:schemeClr val="tx1"/>
                </a:solidFill>
                <a:effectLst/>
              </a:rPr>
              <a:t>…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6C67F4EB-B7DC-5660-D364-B7D8BF35F280}"/>
              </a:ext>
            </a:extLst>
          </p:cNvPr>
          <p:cNvCxnSpPr>
            <a:cxnSpLocks/>
            <a:stCxn id="26" idx="3"/>
          </p:cNvCxnSpPr>
          <p:nvPr/>
        </p:nvCxnSpPr>
        <p:spPr>
          <a:xfrm>
            <a:off x="9123680" y="2247779"/>
            <a:ext cx="15544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300453FA-5BBD-85EA-A92E-27CCDDF84E77}"/>
              </a:ext>
            </a:extLst>
          </p:cNvPr>
          <p:cNvCxnSpPr>
            <a:cxnSpLocks/>
          </p:cNvCxnSpPr>
          <p:nvPr/>
        </p:nvCxnSpPr>
        <p:spPr>
          <a:xfrm>
            <a:off x="10678160" y="3028764"/>
            <a:ext cx="0" cy="15583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A1124E2-83C9-3A71-A38F-45477423E806}"/>
              </a:ext>
            </a:extLst>
          </p:cNvPr>
          <p:cNvCxnSpPr>
            <a:cxnSpLocks/>
          </p:cNvCxnSpPr>
          <p:nvPr/>
        </p:nvCxnSpPr>
        <p:spPr>
          <a:xfrm flipH="1">
            <a:off x="9123680" y="4587129"/>
            <a:ext cx="15544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085C6A36-9D0E-56ED-5317-9BD36228853E}"/>
              </a:ext>
            </a:extLst>
          </p:cNvPr>
          <p:cNvSpPr txBox="1"/>
          <p:nvPr/>
        </p:nvSpPr>
        <p:spPr>
          <a:xfrm>
            <a:off x="10565205" y="3741313"/>
            <a:ext cx="12586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predictionprompt</a:t>
            </a:r>
            <a:endParaRPr lang="zh-CN" altLang="en-US" dirty="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D5E757A6-DAE9-703A-6385-44B3E972DCC6}"/>
              </a:ext>
            </a:extLst>
          </p:cNvPr>
          <p:cNvCxnSpPr>
            <a:endCxn id="25" idx="0"/>
          </p:cNvCxnSpPr>
          <p:nvPr/>
        </p:nvCxnSpPr>
        <p:spPr>
          <a:xfrm>
            <a:off x="10678160" y="2247779"/>
            <a:ext cx="0" cy="373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5" name="图片 54">
            <a:extLst>
              <a:ext uri="{FF2B5EF4-FFF2-40B4-BE49-F238E27FC236}">
                <a16:creationId xmlns:a16="http://schemas.microsoft.com/office/drawing/2014/main" id="{B3F8BD6E-F003-F0F8-1BD9-E97ED9FA84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772" y="4064479"/>
            <a:ext cx="8233908" cy="958506"/>
          </a:xfrm>
          <a:prstGeom prst="rect">
            <a:avLst/>
          </a:prstGeom>
        </p:spPr>
      </p:pic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541E1CA8-CE0D-1237-9B62-D765CBC27B36}"/>
              </a:ext>
            </a:extLst>
          </p:cNvPr>
          <p:cNvCxnSpPr>
            <a:stCxn id="55" idx="2"/>
          </p:cNvCxnSpPr>
          <p:nvPr/>
        </p:nvCxnSpPr>
        <p:spPr>
          <a:xfrm>
            <a:off x="5006726" y="5022985"/>
            <a:ext cx="0" cy="9409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文本框 59">
            <a:extLst>
              <a:ext uri="{FF2B5EF4-FFF2-40B4-BE49-F238E27FC236}">
                <a16:creationId xmlns:a16="http://schemas.microsoft.com/office/drawing/2014/main" id="{2742B326-F606-FE34-D391-236C581DCD89}"/>
              </a:ext>
            </a:extLst>
          </p:cNvPr>
          <p:cNvSpPr txBox="1"/>
          <p:nvPr/>
        </p:nvSpPr>
        <p:spPr>
          <a:xfrm>
            <a:off x="4943138" y="5308786"/>
            <a:ext cx="3867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filter</a:t>
            </a:r>
            <a:r>
              <a:rPr lang="zh-CN" altLang="en-US" dirty="0"/>
              <a:t>：根据考生水平过滤出易错题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A5C49AA5-5730-863E-77B9-10E1B6BC0E9F}"/>
              </a:ext>
            </a:extLst>
          </p:cNvPr>
          <p:cNvSpPr txBox="1"/>
          <p:nvPr/>
        </p:nvSpPr>
        <p:spPr>
          <a:xfrm>
            <a:off x="4119220" y="6059160"/>
            <a:ext cx="177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易错题</a:t>
            </a:r>
          </a:p>
        </p:txBody>
      </p:sp>
    </p:spTree>
    <p:extLst>
      <p:ext uri="{BB962C8B-B14F-4D97-AF65-F5344CB8AC3E}">
        <p14:creationId xmlns:p14="http://schemas.microsoft.com/office/powerpoint/2010/main" val="251218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393</Words>
  <Application>Microsoft Office PowerPoint</Application>
  <PresentationFormat>宽屏</PresentationFormat>
  <Paragraphs>33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洋 程</dc:creator>
  <cp:lastModifiedBy>洋 程</cp:lastModifiedBy>
  <cp:revision>161</cp:revision>
  <dcterms:created xsi:type="dcterms:W3CDTF">2025-08-23T08:07:39Z</dcterms:created>
  <dcterms:modified xsi:type="dcterms:W3CDTF">2025-08-23T08:45:20Z</dcterms:modified>
</cp:coreProperties>
</file>